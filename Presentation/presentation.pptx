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League Spartan" charset="1" panose="00000800000000000000"/>
      <p:regular r:id="rId14"/>
    </p:embeddedFont>
    <p:embeddedFont>
      <p:font typeface="Poppins Bold" charset="1" panose="00000800000000000000"/>
      <p:regular r:id="rId15"/>
    </p:embeddedFont>
    <p:embeddedFont>
      <p:font typeface="Poppins" charset="1" panose="00000500000000000000"/>
      <p:regular r:id="rId16"/>
    </p:embeddedFont>
    <p:embeddedFont>
      <p:font typeface="Roboto Bold" charset="1" panose="02000000000000000000"/>
      <p:regular r:id="rId17"/>
    </p:embeddedFont>
    <p:embeddedFont>
      <p:font typeface="Roboto" charset="1" panose="020000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jpeg" Type="http://schemas.openxmlformats.org/officeDocument/2006/relationships/imag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https://huggingface.co/spaces/mcshoja/FoodInsecurityDashboard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20657" y="1447456"/>
            <a:ext cx="15438643" cy="4352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572"/>
              </a:lnSpc>
            </a:pPr>
            <a:r>
              <a:rPr lang="en-US" b="true" sz="8265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EARLY WARNING SYSTEM FOR ACUTE FOOD CRISIS</a:t>
            </a:r>
          </a:p>
          <a:p>
            <a:pPr algn="ctr">
              <a:lnSpc>
                <a:spcPts val="11572"/>
              </a:lnSpc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-1130300" y="4057750"/>
            <a:ext cx="3086100" cy="2171499"/>
            <a:chOff x="0" y="0"/>
            <a:chExt cx="812800" cy="5719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3941573" y="7268711"/>
            <a:ext cx="10853339" cy="3018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87"/>
              </a:lnSpc>
            </a:pPr>
            <a:r>
              <a:rPr lang="en-US" sz="3419" b="true">
                <a:solidFill>
                  <a:srgbClr val="303642"/>
                </a:solidFill>
                <a:latin typeface="Poppins Bold"/>
                <a:ea typeface="Poppins Bold"/>
                <a:cs typeface="Poppins Bold"/>
                <a:sym typeface="Poppins Bold"/>
              </a:rPr>
              <a:t>👤Authors:</a:t>
            </a:r>
            <a:r>
              <a:rPr lang="en-US" sz="3419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 Blex Olonde, Dennis Muriungi, Shem Omondi, Jasho Kiplangat, Valary Kones</a:t>
            </a:r>
          </a:p>
          <a:p>
            <a:pPr algn="ctr">
              <a:lnSpc>
                <a:spcPts val="4787"/>
              </a:lnSpc>
            </a:pPr>
          </a:p>
          <a:p>
            <a:pPr algn="ctr">
              <a:lnSpc>
                <a:spcPts val="4787"/>
              </a:lnSpc>
            </a:pPr>
            <a:r>
              <a:rPr lang="en-US" sz="3419" b="true">
                <a:solidFill>
                  <a:srgbClr val="303642"/>
                </a:solidFill>
                <a:latin typeface="Poppins Bold"/>
                <a:ea typeface="Poppins Bold"/>
                <a:cs typeface="Poppins Bold"/>
                <a:sym typeface="Poppins Bold"/>
              </a:rPr>
              <a:t>Date: </a:t>
            </a:r>
            <a:r>
              <a:rPr lang="en-US" sz="3419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Feb 28, 2026</a:t>
            </a:r>
          </a:p>
          <a:p>
            <a:pPr algn="ctr">
              <a:lnSpc>
                <a:spcPts val="4787"/>
              </a:lnSpc>
              <a:spcBef>
                <a:spcPct val="0"/>
              </a:spcBef>
            </a:pPr>
          </a:p>
        </p:txBody>
      </p:sp>
      <p:grpSp>
        <p:nvGrpSpPr>
          <p:cNvPr name="Group 8" id="8"/>
          <p:cNvGrpSpPr/>
          <p:nvPr/>
        </p:nvGrpSpPr>
        <p:grpSpPr>
          <a:xfrm rot="0">
            <a:off x="16467343" y="4057750"/>
            <a:ext cx="3086100" cy="2171499"/>
            <a:chOff x="0" y="0"/>
            <a:chExt cx="812800" cy="57191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3244371" y="5038725"/>
            <a:ext cx="12591216" cy="6675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07"/>
              </a:lnSpc>
              <a:spcBef>
                <a:spcPct val="0"/>
              </a:spcBef>
            </a:pPr>
            <a:r>
              <a:rPr lang="en-US" b="true" sz="3719">
                <a:solidFill>
                  <a:srgbClr val="303642"/>
                </a:solidFill>
                <a:latin typeface="Poppins Bold"/>
                <a:ea typeface="Poppins Bold"/>
                <a:cs typeface="Poppins Bold"/>
                <a:sym typeface="Poppins Bold"/>
              </a:rPr>
              <a:t>Using Climate Shocks, Market Prices &amp; Conflict Data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970541" y="2006345"/>
            <a:ext cx="1601933" cy="6466659"/>
            <a:chOff x="0" y="0"/>
            <a:chExt cx="421908" cy="170315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21908" cy="1703153"/>
            </a:xfrm>
            <a:custGeom>
              <a:avLst/>
              <a:gdLst/>
              <a:ahLst/>
              <a:cxnLst/>
              <a:rect r="r" b="b" t="t" l="l"/>
              <a:pathLst>
                <a:path h="1703153" w="421908">
                  <a:moveTo>
                    <a:pt x="210954" y="0"/>
                  </a:moveTo>
                  <a:lnTo>
                    <a:pt x="210954" y="0"/>
                  </a:lnTo>
                  <a:cubicBezTo>
                    <a:pt x="266903" y="0"/>
                    <a:pt x="320560" y="22225"/>
                    <a:pt x="360121" y="61787"/>
                  </a:cubicBezTo>
                  <a:cubicBezTo>
                    <a:pt x="399683" y="101349"/>
                    <a:pt x="421908" y="155006"/>
                    <a:pt x="421908" y="210954"/>
                  </a:cubicBezTo>
                  <a:lnTo>
                    <a:pt x="421908" y="1492199"/>
                  </a:lnTo>
                  <a:cubicBezTo>
                    <a:pt x="421908" y="1548147"/>
                    <a:pt x="399683" y="1601804"/>
                    <a:pt x="360121" y="1641366"/>
                  </a:cubicBezTo>
                  <a:cubicBezTo>
                    <a:pt x="320560" y="1680928"/>
                    <a:pt x="266903" y="1703153"/>
                    <a:pt x="210954" y="1703153"/>
                  </a:cubicBezTo>
                  <a:lnTo>
                    <a:pt x="210954" y="1703153"/>
                  </a:lnTo>
                  <a:cubicBezTo>
                    <a:pt x="155006" y="1703153"/>
                    <a:pt x="101349" y="1680928"/>
                    <a:pt x="61787" y="1641366"/>
                  </a:cubicBezTo>
                  <a:cubicBezTo>
                    <a:pt x="22225" y="1601804"/>
                    <a:pt x="0" y="1548147"/>
                    <a:pt x="0" y="1492199"/>
                  </a:cubicBezTo>
                  <a:lnTo>
                    <a:pt x="0" y="210954"/>
                  </a:lnTo>
                  <a:cubicBezTo>
                    <a:pt x="0" y="155006"/>
                    <a:pt x="22225" y="101349"/>
                    <a:pt x="61787" y="61787"/>
                  </a:cubicBezTo>
                  <a:cubicBezTo>
                    <a:pt x="101349" y="22225"/>
                    <a:pt x="155006" y="0"/>
                    <a:pt x="210954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21908" cy="17507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182302" y="1863470"/>
            <a:ext cx="8835484" cy="9347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7279"/>
              </a:lnSpc>
              <a:spcBef>
                <a:spcPct val="0"/>
              </a:spcBef>
            </a:pPr>
            <a:r>
              <a:rPr lang="en-US" b="true" sz="5199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 STATEMENT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63006" y="3589940"/>
            <a:ext cx="14961988" cy="4883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856725" indent="-428363" lvl="1">
              <a:lnSpc>
                <a:spcPts val="5555"/>
              </a:lnSpc>
              <a:buFont typeface="Arial"/>
              <a:buChar char="•"/>
            </a:pPr>
            <a:r>
              <a:rPr lang="en-US" sz="39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Kenya faces recurring droughts, high food prices, and localized conflict.</a:t>
            </a:r>
          </a:p>
          <a:p>
            <a:pPr algn="just" marL="856725" indent="-428363" lvl="1">
              <a:lnSpc>
                <a:spcPts val="5555"/>
              </a:lnSpc>
              <a:buFont typeface="Arial"/>
              <a:buChar char="•"/>
            </a:pPr>
            <a:r>
              <a:rPr lang="en-US" sz="39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Food security reports are mostly descriptive (reactive).</a:t>
            </a:r>
          </a:p>
          <a:p>
            <a:pPr algn="just" marL="856725" indent="-428363" lvl="1">
              <a:lnSpc>
                <a:spcPts val="5555"/>
              </a:lnSpc>
              <a:buFont typeface="Arial"/>
              <a:buChar char="•"/>
            </a:pPr>
            <a:r>
              <a:rPr lang="en-US" sz="39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 integrated predictive model combining climate, market, and conflict indicators.</a:t>
            </a:r>
          </a:p>
          <a:p>
            <a:pPr algn="just" marL="856725" indent="-428363" lvl="1">
              <a:lnSpc>
                <a:spcPts val="5555"/>
              </a:lnSpc>
              <a:buFont typeface="Arial"/>
              <a:buChar char="•"/>
            </a:pPr>
            <a:r>
              <a:rPr lang="en-US" sz="39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Need for a data-driven early warning system.</a:t>
            </a:r>
          </a:p>
          <a:p>
            <a:pPr algn="just">
              <a:lnSpc>
                <a:spcPts val="5555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547932" y="1349409"/>
            <a:ext cx="9188001" cy="787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94"/>
              </a:lnSpc>
            </a:pPr>
            <a:r>
              <a:rPr lang="en-US" b="true" sz="4639">
                <a:solidFill>
                  <a:srgbClr val="303642"/>
                </a:solidFill>
                <a:latin typeface="Roboto Bold"/>
                <a:ea typeface="Roboto Bold"/>
                <a:cs typeface="Roboto Bold"/>
                <a:sym typeface="Roboto Bold"/>
              </a:rPr>
              <a:t>OBJECTIVE OF THE PROJECT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84264" y="2758864"/>
            <a:ext cx="14915337" cy="6966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44"/>
              </a:lnSpc>
            </a:pPr>
            <a:r>
              <a:rPr lang="en-US" sz="3960" b="true">
                <a:solidFill>
                  <a:srgbClr val="303642"/>
                </a:solidFill>
                <a:latin typeface="Poppins Bold"/>
                <a:ea typeface="Poppins Bold"/>
                <a:cs typeface="Poppins Bold"/>
                <a:sym typeface="Poppins Bold"/>
              </a:rPr>
              <a:t>Main Goal:</a:t>
            </a:r>
          </a:p>
          <a:p>
            <a:pPr algn="l">
              <a:lnSpc>
                <a:spcPts val="5544"/>
              </a:lnSpc>
            </a:pPr>
            <a:r>
              <a:rPr lang="en-US" sz="3960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 Predict probability of a county entering IPC Phase 3+ (Crisis or worse) one month ahead.</a:t>
            </a:r>
          </a:p>
          <a:p>
            <a:pPr algn="l">
              <a:lnSpc>
                <a:spcPts val="5544"/>
              </a:lnSpc>
            </a:pPr>
          </a:p>
          <a:p>
            <a:pPr algn="l">
              <a:lnSpc>
                <a:spcPts val="5544"/>
              </a:lnSpc>
            </a:pPr>
            <a:r>
              <a:rPr lang="en-US" sz="3960" b="true">
                <a:solidFill>
                  <a:srgbClr val="303642"/>
                </a:solidFill>
                <a:latin typeface="Poppins Bold"/>
                <a:ea typeface="Poppins Bold"/>
                <a:cs typeface="Poppins Bold"/>
                <a:sym typeface="Poppins Bold"/>
              </a:rPr>
              <a:t>Specific Objectives:</a:t>
            </a:r>
          </a:p>
          <a:p>
            <a:pPr algn="l" marL="854966" indent="-427483" lvl="1">
              <a:lnSpc>
                <a:spcPts val="5544"/>
              </a:lnSpc>
              <a:buFont typeface="Arial"/>
              <a:buChar char="•"/>
            </a:pPr>
            <a:r>
              <a:rPr lang="en-US" sz="3960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Build a county-month dataset</a:t>
            </a:r>
          </a:p>
          <a:p>
            <a:pPr algn="l" marL="854966" indent="-427483" lvl="1">
              <a:lnSpc>
                <a:spcPts val="5544"/>
              </a:lnSpc>
              <a:buFont typeface="Arial"/>
              <a:buChar char="•"/>
            </a:pPr>
            <a:r>
              <a:rPr lang="en-US" sz="3960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Engineer lagged climate &amp; market features</a:t>
            </a:r>
          </a:p>
          <a:p>
            <a:pPr algn="l" marL="854966" indent="-427483" lvl="1">
              <a:lnSpc>
                <a:spcPts val="5544"/>
              </a:lnSpc>
              <a:buFont typeface="Arial"/>
              <a:buChar char="•"/>
            </a:pPr>
            <a:r>
              <a:rPr lang="en-US" sz="3960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Compare ML classification models</a:t>
            </a:r>
          </a:p>
          <a:p>
            <a:pPr algn="l" marL="854966" indent="-427483" lvl="1">
              <a:lnSpc>
                <a:spcPts val="5544"/>
              </a:lnSpc>
              <a:buFont typeface="Arial"/>
              <a:buChar char="•"/>
            </a:pPr>
            <a:r>
              <a:rPr lang="en-US" sz="3960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Identify key drivers of food insecurity</a:t>
            </a:r>
          </a:p>
          <a:p>
            <a:pPr algn="l">
              <a:lnSpc>
                <a:spcPts val="5544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7416165" y="429700"/>
            <a:ext cx="5246370" cy="5246370"/>
            <a:chOff x="0" y="0"/>
            <a:chExt cx="6350000" cy="6350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3175000"/>
                  </a:moveTo>
                  <a:cubicBezTo>
                    <a:pt x="0" y="4928870"/>
                    <a:pt x="1421130" y="6350000"/>
                    <a:pt x="3175000" y="6350000"/>
                  </a:cubicBezTo>
                  <a:lnTo>
                    <a:pt x="6350000" y="6350000"/>
                  </a:lnTo>
                  <a:lnTo>
                    <a:pt x="6350000" y="3175000"/>
                  </a:lnTo>
                  <a:cubicBezTo>
                    <a:pt x="6350000" y="1421130"/>
                    <a:pt x="4928870" y="0"/>
                    <a:pt x="3175000" y="0"/>
                  </a:cubicBezTo>
                  <a:cubicBezTo>
                    <a:pt x="1421130" y="0"/>
                    <a:pt x="0" y="1421130"/>
                    <a:pt x="0" y="317500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391160" y="364490"/>
              <a:ext cx="5619750" cy="5621020"/>
            </a:xfrm>
            <a:custGeom>
              <a:avLst/>
              <a:gdLst/>
              <a:ahLst/>
              <a:cxnLst/>
              <a:rect r="r" b="b" t="t" l="l"/>
              <a:pathLst>
                <a:path h="5621020" w="5619750">
                  <a:moveTo>
                    <a:pt x="2810510" y="0"/>
                  </a:moveTo>
                  <a:cubicBezTo>
                    <a:pt x="4362450" y="0"/>
                    <a:pt x="5619750" y="1258570"/>
                    <a:pt x="5619750" y="2810510"/>
                  </a:cubicBezTo>
                  <a:cubicBezTo>
                    <a:pt x="5619750" y="4362450"/>
                    <a:pt x="4361180" y="5621020"/>
                    <a:pt x="2810510" y="5621020"/>
                  </a:cubicBezTo>
                  <a:cubicBezTo>
                    <a:pt x="1258570" y="5621020"/>
                    <a:pt x="0" y="4362450"/>
                    <a:pt x="0" y="2810510"/>
                  </a:cubicBezTo>
                  <a:cubicBezTo>
                    <a:pt x="1270" y="1258570"/>
                    <a:pt x="1258570" y="0"/>
                    <a:pt x="2810510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1168" r="0" b="-1168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3489237" y="3426906"/>
            <a:ext cx="3018207" cy="5264713"/>
          </a:xfrm>
          <a:custGeom>
            <a:avLst/>
            <a:gdLst/>
            <a:ahLst/>
            <a:cxnLst/>
            <a:rect r="r" b="b" t="t" l="l"/>
            <a:pathLst>
              <a:path h="5264713" w="3018207">
                <a:moveTo>
                  <a:pt x="0" y="0"/>
                </a:moveTo>
                <a:lnTo>
                  <a:pt x="3018206" y="0"/>
                </a:lnTo>
                <a:lnTo>
                  <a:pt x="3018206" y="5264713"/>
                </a:lnTo>
                <a:lnTo>
                  <a:pt x="0" y="52647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299046" y="1897027"/>
            <a:ext cx="4967983" cy="9137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85"/>
              </a:lnSpc>
            </a:pPr>
            <a:r>
              <a:rPr lang="en-US" b="true" sz="5275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DATA SOURCES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3652129"/>
            <a:ext cx="7065166" cy="5349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72"/>
              </a:lnSpc>
            </a:pPr>
            <a:r>
              <a:rPr lang="en-US" sz="2765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Target Variable</a:t>
            </a:r>
          </a:p>
          <a:p>
            <a:pPr algn="l" marL="597124" indent="-298562" lvl="1">
              <a:lnSpc>
                <a:spcPts val="3872"/>
              </a:lnSpc>
              <a:buFont typeface="Arial"/>
              <a:buChar char="•"/>
            </a:pPr>
            <a:r>
              <a:rPr lang="en-US" sz="276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Integrated Food Security Phase Classification (IPC Phases)</a:t>
            </a:r>
          </a:p>
          <a:p>
            <a:pPr algn="l">
              <a:lnSpc>
                <a:spcPts val="3872"/>
              </a:lnSpc>
            </a:pPr>
          </a:p>
          <a:p>
            <a:pPr algn="l">
              <a:lnSpc>
                <a:spcPts val="3872"/>
              </a:lnSpc>
            </a:pPr>
            <a:r>
              <a:rPr lang="en-US" sz="2765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Predictor Variables</a:t>
            </a:r>
          </a:p>
          <a:p>
            <a:pPr algn="l" marL="597124" indent="-298562" lvl="1">
              <a:lnSpc>
                <a:spcPts val="3872"/>
              </a:lnSpc>
              <a:buFont typeface="Arial"/>
              <a:buChar char="•"/>
            </a:pPr>
            <a:r>
              <a:rPr lang="en-US" sz="276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Climate: Rainfall anomalies, NDVI</a:t>
            </a:r>
          </a:p>
          <a:p>
            <a:pPr algn="l" marL="597124" indent="-298562" lvl="1">
              <a:lnSpc>
                <a:spcPts val="3872"/>
              </a:lnSpc>
              <a:buFont typeface="Arial"/>
              <a:buChar char="•"/>
            </a:pPr>
            <a:r>
              <a:rPr lang="en-US" sz="276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Market: Monthly maize retail prices</a:t>
            </a:r>
          </a:p>
          <a:p>
            <a:pPr algn="l" marL="597124" indent="-298562" lvl="1">
              <a:lnSpc>
                <a:spcPts val="3872"/>
              </a:lnSpc>
              <a:buFont typeface="Arial"/>
              <a:buChar char="•"/>
            </a:pPr>
            <a:r>
              <a:rPr lang="en-US" sz="276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Conflict: Event counts &amp; fatalities</a:t>
            </a:r>
          </a:p>
          <a:p>
            <a:pPr algn="l" marL="597124" indent="-298562" lvl="1">
              <a:lnSpc>
                <a:spcPts val="3872"/>
              </a:lnSpc>
              <a:buFont typeface="Arial"/>
              <a:buChar char="•"/>
            </a:pPr>
            <a:r>
              <a:rPr lang="en-US" sz="276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Panel structured as county-month dataset</a:t>
            </a:r>
          </a:p>
          <a:p>
            <a:pPr algn="l">
              <a:lnSpc>
                <a:spcPts val="3872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982450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6389756" y="895527"/>
            <a:ext cx="6150317" cy="9543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72"/>
              </a:lnSpc>
            </a:pPr>
            <a:r>
              <a:rPr lang="en-US" b="true" sz="5551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METHODOLOGY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728746" y="2531980"/>
            <a:ext cx="14530554" cy="626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47608" indent="-423804" lvl="1">
              <a:lnSpc>
                <a:spcPts val="5496"/>
              </a:lnSpc>
              <a:buFont typeface="Arial"/>
              <a:buChar char="•"/>
            </a:pPr>
            <a:r>
              <a:rPr lang="en-US" sz="392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Data Cleaning &amp; Harmonization</a:t>
            </a:r>
          </a:p>
          <a:p>
            <a:pPr algn="l" marL="847608" indent="-423804" lvl="1">
              <a:lnSpc>
                <a:spcPts val="5496"/>
              </a:lnSpc>
              <a:buFont typeface="Arial"/>
              <a:buChar char="•"/>
            </a:pPr>
            <a:r>
              <a:rPr lang="en-US" sz="392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Feature Engineering (lag variables)</a:t>
            </a:r>
          </a:p>
          <a:p>
            <a:pPr algn="l" marL="847608" indent="-423804" lvl="1">
              <a:lnSpc>
                <a:spcPts val="5496"/>
              </a:lnSpc>
              <a:buFont typeface="Arial"/>
              <a:buChar char="•"/>
            </a:pPr>
            <a:r>
              <a:rPr lang="en-US" sz="392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Train/Test Split (time-aware validation)</a:t>
            </a:r>
          </a:p>
          <a:p>
            <a:pPr algn="l" marL="847608" indent="-423804" lvl="1">
              <a:lnSpc>
                <a:spcPts val="5496"/>
              </a:lnSpc>
              <a:buFont typeface="Arial"/>
              <a:buChar char="•"/>
            </a:pPr>
            <a:r>
              <a:rPr lang="en-US" sz="392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Models Compared:</a:t>
            </a:r>
          </a:p>
          <a:p>
            <a:pPr algn="l" marL="847608" indent="-423804" lvl="1">
              <a:lnSpc>
                <a:spcPts val="5496"/>
              </a:lnSpc>
              <a:buFont typeface="Arial"/>
              <a:buChar char="•"/>
            </a:pPr>
            <a:r>
              <a:rPr lang="en-US" sz="392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Logistic Regression</a:t>
            </a:r>
          </a:p>
          <a:p>
            <a:pPr algn="l" marL="847608" indent="-423804" lvl="1">
              <a:lnSpc>
                <a:spcPts val="5496"/>
              </a:lnSpc>
              <a:buFont typeface="Arial"/>
              <a:buChar char="•"/>
            </a:pPr>
            <a:r>
              <a:rPr lang="en-US" sz="392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Random Forest</a:t>
            </a:r>
          </a:p>
          <a:p>
            <a:pPr algn="l" marL="847608" indent="-423804" lvl="1">
              <a:lnSpc>
                <a:spcPts val="5496"/>
              </a:lnSpc>
              <a:buFont typeface="Arial"/>
              <a:buChar char="•"/>
            </a:pPr>
            <a:r>
              <a:rPr lang="en-US" sz="392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  <a:p>
            <a:pPr algn="l" marL="847608" indent="-423804" lvl="1">
              <a:lnSpc>
                <a:spcPts val="5496"/>
              </a:lnSpc>
              <a:buFont typeface="Arial"/>
              <a:buChar char="•"/>
            </a:pPr>
            <a:r>
              <a:rPr lang="en-US" sz="3925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Evaluation: Accuracy, Precision, Recall, ROC-AUC</a:t>
            </a:r>
          </a:p>
          <a:p>
            <a:pPr algn="l">
              <a:lnSpc>
                <a:spcPts val="5496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9144000" y="1828763"/>
            <a:ext cx="9221944" cy="6702764"/>
          </a:xfrm>
          <a:custGeom>
            <a:avLst/>
            <a:gdLst/>
            <a:ahLst/>
            <a:cxnLst/>
            <a:rect r="r" b="b" t="t" l="l"/>
            <a:pathLst>
              <a:path h="6702764" w="9221944">
                <a:moveTo>
                  <a:pt x="0" y="0"/>
                </a:moveTo>
                <a:lnTo>
                  <a:pt x="9221944" y="0"/>
                </a:lnTo>
                <a:lnTo>
                  <a:pt x="9221944" y="6702763"/>
                </a:lnTo>
                <a:lnTo>
                  <a:pt x="0" y="6702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739" t="0" r="-3739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958343" y="890905"/>
            <a:ext cx="5634574" cy="937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32"/>
              </a:lnSpc>
            </a:pPr>
            <a:r>
              <a:rPr lang="en-US" b="true" sz="5451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KEY RESULTS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97530" y="2462662"/>
            <a:ext cx="8858296" cy="5266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21605" indent="-360802" lvl="1">
              <a:lnSpc>
                <a:spcPts val="4679"/>
              </a:lnSpc>
              <a:buFont typeface="Arial"/>
              <a:buChar char="•"/>
            </a:pPr>
            <a:r>
              <a:rPr lang="en-US" sz="334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Machine learning models improved prediction over baseline.</a:t>
            </a:r>
          </a:p>
          <a:p>
            <a:pPr algn="l" marL="721605" indent="-360802" lvl="1">
              <a:lnSpc>
                <a:spcPts val="4679"/>
              </a:lnSpc>
              <a:buFont typeface="Arial"/>
              <a:buChar char="•"/>
            </a:pPr>
            <a:r>
              <a:rPr lang="en-US" sz="334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Climate shocks + maize price spikes strongly associated with IPC 3+.</a:t>
            </a:r>
          </a:p>
          <a:p>
            <a:pPr algn="l" marL="721605" indent="-360802" lvl="1">
              <a:lnSpc>
                <a:spcPts val="4679"/>
              </a:lnSpc>
              <a:buFont typeface="Arial"/>
              <a:buChar char="•"/>
            </a:pPr>
            <a:r>
              <a:rPr lang="en-US" sz="334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Conflict contributes but less consistently than climate &amp; prices.</a:t>
            </a:r>
          </a:p>
          <a:p>
            <a:pPr algn="l" marL="721605" indent="-360802" lvl="1">
              <a:lnSpc>
                <a:spcPts val="4679"/>
              </a:lnSpc>
              <a:buFont typeface="Arial"/>
              <a:buChar char="•"/>
            </a:pPr>
            <a:r>
              <a:rPr lang="en-US" sz="334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can flag high-risk counties one month in advance.</a:t>
            </a:r>
          </a:p>
          <a:p>
            <a:pPr algn="l">
              <a:lnSpc>
                <a:spcPts val="467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979939" y="1311765"/>
            <a:ext cx="10328122" cy="1151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19"/>
              </a:lnSpc>
            </a:pPr>
            <a:r>
              <a:rPr lang="en-US" b="true" sz="6656">
                <a:solidFill>
                  <a:srgbClr val="303642"/>
                </a:solidFill>
                <a:latin typeface="Roboto Bold"/>
                <a:ea typeface="Roboto Bold"/>
                <a:cs typeface="Roboto Bold"/>
                <a:sym typeface="Roboto Bold"/>
              </a:rPr>
              <a:t>CONCLUSION &amp; IMPACT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925332" y="3237083"/>
            <a:ext cx="15333968" cy="5487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59506" indent="-479753" lvl="1">
              <a:lnSpc>
                <a:spcPts val="6221"/>
              </a:lnSpc>
              <a:buFont typeface="Arial"/>
              <a:buChar char="•"/>
            </a:pPr>
            <a:r>
              <a:rPr lang="en-US" sz="4444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Predictive analytics improves preparedness.</a:t>
            </a:r>
          </a:p>
          <a:p>
            <a:pPr algn="l" marL="959506" indent="-479753" lvl="1">
              <a:lnSpc>
                <a:spcPts val="6221"/>
              </a:lnSpc>
              <a:buFont typeface="Arial"/>
              <a:buChar char="•"/>
            </a:pPr>
            <a:r>
              <a:rPr lang="en-US" sz="4444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Supports humanitarian agencies &amp; county governments.</a:t>
            </a:r>
          </a:p>
          <a:p>
            <a:pPr algn="l" marL="959506" indent="-479753" lvl="1">
              <a:lnSpc>
                <a:spcPts val="6221"/>
              </a:lnSpc>
              <a:buFont typeface="Arial"/>
              <a:buChar char="•"/>
            </a:pPr>
            <a:r>
              <a:rPr lang="en-US" sz="4444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Enables proactive food assistance allocation.</a:t>
            </a:r>
          </a:p>
          <a:p>
            <a:pPr algn="l" marL="959506" indent="-479753" lvl="1">
              <a:lnSpc>
                <a:spcPts val="6221"/>
              </a:lnSpc>
              <a:buFont typeface="Arial"/>
              <a:buChar char="•"/>
            </a:pPr>
            <a:r>
              <a:rPr lang="en-US" sz="4444">
                <a:solidFill>
                  <a:srgbClr val="303642"/>
                </a:solidFill>
                <a:latin typeface="Poppins"/>
                <a:ea typeface="Poppins"/>
                <a:cs typeface="Poppins"/>
                <a:sym typeface="Poppins"/>
              </a:rPr>
              <a:t>Scalable to other drought-prone regions in East Africa.</a:t>
            </a:r>
          </a:p>
          <a:p>
            <a:pPr algn="l">
              <a:lnSpc>
                <a:spcPts val="6221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702328" y="4246706"/>
            <a:ext cx="5245100" cy="1332778"/>
            <a:chOff x="0" y="0"/>
            <a:chExt cx="1381426" cy="3510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81426" cy="351020"/>
            </a:xfrm>
            <a:custGeom>
              <a:avLst/>
              <a:gdLst/>
              <a:ahLst/>
              <a:cxnLst/>
              <a:rect r="r" b="b" t="t" l="l"/>
              <a:pathLst>
                <a:path h="351020" w="1381426">
                  <a:moveTo>
                    <a:pt x="75277" y="0"/>
                  </a:moveTo>
                  <a:lnTo>
                    <a:pt x="1306148" y="0"/>
                  </a:lnTo>
                  <a:cubicBezTo>
                    <a:pt x="1326113" y="0"/>
                    <a:pt x="1345260" y="7931"/>
                    <a:pt x="1359377" y="22048"/>
                  </a:cubicBezTo>
                  <a:cubicBezTo>
                    <a:pt x="1373495" y="36166"/>
                    <a:pt x="1381426" y="55313"/>
                    <a:pt x="1381426" y="75277"/>
                  </a:cubicBezTo>
                  <a:lnTo>
                    <a:pt x="1381426" y="275742"/>
                  </a:lnTo>
                  <a:cubicBezTo>
                    <a:pt x="1381426" y="295707"/>
                    <a:pt x="1373495" y="314854"/>
                    <a:pt x="1359377" y="328971"/>
                  </a:cubicBezTo>
                  <a:cubicBezTo>
                    <a:pt x="1345260" y="343089"/>
                    <a:pt x="1326113" y="351020"/>
                    <a:pt x="1306148" y="351020"/>
                  </a:cubicBezTo>
                  <a:lnTo>
                    <a:pt x="75277" y="351020"/>
                  </a:lnTo>
                  <a:cubicBezTo>
                    <a:pt x="55313" y="351020"/>
                    <a:pt x="36166" y="343089"/>
                    <a:pt x="22048" y="328971"/>
                  </a:cubicBezTo>
                  <a:cubicBezTo>
                    <a:pt x="7931" y="314854"/>
                    <a:pt x="0" y="295707"/>
                    <a:pt x="0" y="275742"/>
                  </a:cubicBezTo>
                  <a:lnTo>
                    <a:pt x="0" y="75277"/>
                  </a:lnTo>
                  <a:cubicBezTo>
                    <a:pt x="0" y="55313"/>
                    <a:pt x="7931" y="36166"/>
                    <a:pt x="22048" y="22048"/>
                  </a:cubicBezTo>
                  <a:cubicBezTo>
                    <a:pt x="36166" y="7931"/>
                    <a:pt x="55313" y="0"/>
                    <a:pt x="75277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381426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745228" y="4246706"/>
            <a:ext cx="5118100" cy="1332778"/>
            <a:chOff x="0" y="0"/>
            <a:chExt cx="1347977" cy="3510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47977" cy="351020"/>
            </a:xfrm>
            <a:custGeom>
              <a:avLst/>
              <a:gdLst/>
              <a:ahLst/>
              <a:cxnLst/>
              <a:rect r="r" b="b" t="t" l="l"/>
              <a:pathLst>
                <a:path h="351020" w="1347977">
                  <a:moveTo>
                    <a:pt x="77145" y="0"/>
                  </a:moveTo>
                  <a:lnTo>
                    <a:pt x="1270832" y="0"/>
                  </a:lnTo>
                  <a:cubicBezTo>
                    <a:pt x="1291292" y="0"/>
                    <a:pt x="1310914" y="8128"/>
                    <a:pt x="1325382" y="22595"/>
                  </a:cubicBezTo>
                  <a:cubicBezTo>
                    <a:pt x="1339849" y="37063"/>
                    <a:pt x="1347977" y="56685"/>
                    <a:pt x="1347977" y="77145"/>
                  </a:cubicBezTo>
                  <a:lnTo>
                    <a:pt x="1347977" y="273874"/>
                  </a:lnTo>
                  <a:cubicBezTo>
                    <a:pt x="1347977" y="316480"/>
                    <a:pt x="1313438" y="351020"/>
                    <a:pt x="1270832" y="351020"/>
                  </a:cubicBezTo>
                  <a:lnTo>
                    <a:pt x="77145" y="351020"/>
                  </a:lnTo>
                  <a:cubicBezTo>
                    <a:pt x="34539" y="351020"/>
                    <a:pt x="0" y="316480"/>
                    <a:pt x="0" y="273874"/>
                  </a:cubicBezTo>
                  <a:lnTo>
                    <a:pt x="0" y="77145"/>
                  </a:lnTo>
                  <a:cubicBezTo>
                    <a:pt x="0" y="34539"/>
                    <a:pt x="34539" y="0"/>
                    <a:pt x="77145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347977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933297" y="4314103"/>
            <a:ext cx="8421405" cy="1293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14"/>
              </a:lnSpc>
            </a:pPr>
            <a:r>
              <a:rPr lang="en-US" b="true" sz="7582">
                <a:solidFill>
                  <a:srgbClr val="004AAD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3784276" y="8083696"/>
            <a:ext cx="762324" cy="762324"/>
          </a:xfrm>
          <a:custGeom>
            <a:avLst/>
            <a:gdLst/>
            <a:ahLst/>
            <a:cxnLst/>
            <a:rect r="r" b="b" t="t" l="l"/>
            <a:pathLst>
              <a:path h="762324" w="762324">
                <a:moveTo>
                  <a:pt x="0" y="0"/>
                </a:moveTo>
                <a:lnTo>
                  <a:pt x="762324" y="0"/>
                </a:lnTo>
                <a:lnTo>
                  <a:pt x="762324" y="762324"/>
                </a:lnTo>
                <a:lnTo>
                  <a:pt x="0" y="76232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349748" y="7916250"/>
            <a:ext cx="9209297" cy="929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619"/>
              </a:lnSpc>
              <a:spcBef>
                <a:spcPct val="0"/>
              </a:spcBef>
            </a:pPr>
            <a:r>
              <a:rPr lang="en-US" sz="5442" u="sng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  <a:hlinkClick r:id="rId5" tooltip="https://huggingface.co/spaces/mcshoja/FoodInsecurityDashboard"/>
              </a:rPr>
              <a:t>www.reallygreatsite.com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DAHCtKq4lPk</dc:identifier>
  <dcterms:modified xsi:type="dcterms:W3CDTF">2011-08-01T06:04:30Z</dcterms:modified>
  <cp:revision>1</cp:revision>
  <dc:title>Blue &amp; white company profile presentation</dc:title>
</cp:coreProperties>
</file>