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League Spartan" panose="020B0604020202020204" charset="0"/>
      <p:regular r:id="rId10"/>
    </p:embeddedFont>
    <p:embeddedFont>
      <p:font typeface="Poppins" panose="020B0502040204020203" pitchFamily="2" charset="0"/>
      <p:regular r:id="rId11"/>
    </p:embeddedFont>
    <p:embeddedFont>
      <p:font typeface="Poppins Bold" panose="020B0604020202020204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8" d="100"/>
          <a:sy n="38" d="100"/>
        </p:scale>
        <p:origin x="102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huggingface.co/spaces/mcshoja/FoodInsecurityDashboard" TargetMode="Externa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20657" y="1447456"/>
            <a:ext cx="15438643" cy="435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sz="8265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EARLY WARNING SYSTEM FOR ACUTE FOOD CRISIS</a:t>
            </a:r>
          </a:p>
          <a:p>
            <a:pPr algn="ctr">
              <a:lnSpc>
                <a:spcPts val="11572"/>
              </a:lnSpc>
            </a:pPr>
            <a:endParaRPr lang="en-US" sz="8265" b="1">
              <a:solidFill>
                <a:srgbClr val="004AA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941573" y="7268711"/>
            <a:ext cx="10853339" cy="3018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sz="341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👤Authors:</a:t>
            </a:r>
            <a:r>
              <a:rPr lang="en-US" sz="34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Blex Olonde, Dennis Muriungi, Shem Omondi, Jasho Kiplangat, Valary Kones</a:t>
            </a:r>
          </a:p>
          <a:p>
            <a:pPr algn="ctr">
              <a:lnSpc>
                <a:spcPts val="4787"/>
              </a:lnSpc>
            </a:pPr>
            <a:endParaRPr lang="en-US" sz="3419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4787"/>
              </a:lnSpc>
            </a:pPr>
            <a:r>
              <a:rPr lang="en-US" sz="341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Date: </a:t>
            </a:r>
            <a:r>
              <a:rPr lang="en-US" sz="34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Feb 28, 2026</a:t>
            </a:r>
          </a:p>
          <a:p>
            <a:pPr algn="ctr">
              <a:lnSpc>
                <a:spcPts val="4787"/>
              </a:lnSpc>
              <a:spcBef>
                <a:spcPct val="0"/>
              </a:spcBef>
            </a:pPr>
            <a:endParaRPr lang="en-US" sz="3419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244371" y="5038725"/>
            <a:ext cx="12591216" cy="66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7"/>
              </a:lnSpc>
              <a:spcBef>
                <a:spcPct val="0"/>
              </a:spcBef>
            </a:pPr>
            <a:r>
              <a:rPr lang="en-US" sz="371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Using Climate Shocks, Market Prices &amp; Conflict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82302" y="1863470"/>
            <a:ext cx="8835484" cy="93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79"/>
              </a:lnSpc>
              <a:spcBef>
                <a:spcPct val="0"/>
              </a:spcBef>
            </a:pPr>
            <a:r>
              <a:rPr lang="en-US" sz="5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3006" y="3589940"/>
            <a:ext cx="14961988" cy="4883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6725" lvl="1" indent="-428363" algn="just">
              <a:lnSpc>
                <a:spcPts val="5555"/>
              </a:lnSpc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Kenya faces recurring droughts, high food prices, and localized conflict.</a:t>
            </a:r>
          </a:p>
          <a:p>
            <a:pPr marL="856725" lvl="1" indent="-428363" algn="just">
              <a:lnSpc>
                <a:spcPts val="5555"/>
              </a:lnSpc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Food security reports are mostly descriptive (reactive).</a:t>
            </a:r>
          </a:p>
          <a:p>
            <a:pPr marL="856725" lvl="1" indent="-428363" algn="just">
              <a:lnSpc>
                <a:spcPts val="5555"/>
              </a:lnSpc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integrated predictive model combining climate, market, and conflict indicators.</a:t>
            </a:r>
          </a:p>
          <a:p>
            <a:pPr marL="856725" lvl="1" indent="-428363" algn="just">
              <a:lnSpc>
                <a:spcPts val="5555"/>
              </a:lnSpc>
              <a:buFont typeface="Arial"/>
              <a:buChar char="•"/>
            </a:pPr>
            <a:r>
              <a:rPr lang="en-US" sz="39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Need for a data-driven early warning system.</a:t>
            </a:r>
          </a:p>
          <a:p>
            <a:pPr algn="just">
              <a:lnSpc>
                <a:spcPts val="5555"/>
              </a:lnSpc>
              <a:spcBef>
                <a:spcPct val="0"/>
              </a:spcBef>
            </a:pPr>
            <a:endParaRPr lang="en-US" sz="396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7932" y="1349409"/>
            <a:ext cx="9188001" cy="78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4"/>
              </a:lnSpc>
            </a:pPr>
            <a:r>
              <a:rPr lang="en-US" sz="4639" b="1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OBJECTIVE OF THE PROJECT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84264" y="2758864"/>
            <a:ext cx="14915337" cy="913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960" b="1" dirty="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Main Goal:</a:t>
            </a:r>
          </a:p>
          <a:p>
            <a:pPr algn="l">
              <a:lnSpc>
                <a:spcPts val="5544"/>
              </a:lnSpc>
            </a:pPr>
            <a:r>
              <a:rPr lang="en-US" sz="396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Predict probability of a county entering IPC Phase 3+ (Crisis or worse)</a:t>
            </a:r>
          </a:p>
          <a:p>
            <a:pPr algn="l">
              <a:lnSpc>
                <a:spcPts val="5544"/>
              </a:lnSpc>
            </a:pPr>
            <a:r>
              <a:rPr lang="en-US" sz="396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 one month ahead.</a:t>
            </a:r>
          </a:p>
          <a:p>
            <a:pPr algn="l">
              <a:lnSpc>
                <a:spcPts val="5544"/>
              </a:lnSpc>
            </a:pPr>
            <a:endParaRPr lang="en-US" sz="3960" dirty="0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44"/>
              </a:lnSpc>
            </a:pPr>
            <a:endParaRPr lang="en-US" sz="3960" dirty="0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44"/>
              </a:lnSpc>
            </a:pPr>
            <a:endParaRPr lang="en-US" sz="3960" dirty="0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544"/>
              </a:lnSpc>
            </a:pPr>
            <a:r>
              <a:rPr lang="en-US" sz="3960" b="1" dirty="0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Specific Objectives:</a:t>
            </a:r>
          </a:p>
          <a:p>
            <a:pPr marL="854966" lvl="1" indent="-427483" algn="l">
              <a:lnSpc>
                <a:spcPts val="5544"/>
              </a:lnSpc>
              <a:buFont typeface="Arial"/>
              <a:buChar char="•"/>
            </a:pPr>
            <a:r>
              <a:rPr lang="en-US" sz="396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Build a county-month dataset</a:t>
            </a:r>
          </a:p>
          <a:p>
            <a:pPr marL="854966" lvl="1" indent="-427483" algn="l">
              <a:lnSpc>
                <a:spcPts val="5544"/>
              </a:lnSpc>
              <a:buFont typeface="Arial"/>
              <a:buChar char="•"/>
            </a:pPr>
            <a:r>
              <a:rPr lang="en-US" sz="396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Engineer lagged climate &amp; market features</a:t>
            </a:r>
          </a:p>
          <a:p>
            <a:pPr marL="854966" lvl="1" indent="-427483" algn="l">
              <a:lnSpc>
                <a:spcPts val="5544"/>
              </a:lnSpc>
              <a:buFont typeface="Arial"/>
              <a:buChar char="•"/>
            </a:pPr>
            <a:r>
              <a:rPr lang="en-US" sz="396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Compare ML classification models</a:t>
            </a:r>
          </a:p>
          <a:p>
            <a:pPr marL="854966" lvl="1" indent="-427483" algn="l">
              <a:lnSpc>
                <a:spcPts val="5544"/>
              </a:lnSpc>
              <a:buFont typeface="Arial"/>
              <a:buChar char="•"/>
            </a:pPr>
            <a:r>
              <a:rPr lang="en-US" sz="3960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Identify key drivers of food insecurity</a:t>
            </a:r>
          </a:p>
          <a:p>
            <a:pPr algn="l">
              <a:lnSpc>
                <a:spcPts val="5544"/>
              </a:lnSpc>
              <a:spcBef>
                <a:spcPct val="0"/>
              </a:spcBef>
            </a:pPr>
            <a:endParaRPr lang="en-US" sz="3960" dirty="0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B737F4-6A5E-21A6-1B62-EB9CDED3B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812921"/>
              </p:ext>
            </p:extLst>
          </p:nvPr>
        </p:nvGraphicFramePr>
        <p:xfrm>
          <a:off x="6934201" y="4381500"/>
          <a:ext cx="9665400" cy="3962400"/>
        </p:xfrm>
        <a:graphic>
          <a:graphicData uri="http://schemas.openxmlformats.org/drawingml/2006/table">
            <a:tbl>
              <a:tblPr/>
              <a:tblGrid>
                <a:gridCol w="3221800">
                  <a:extLst>
                    <a:ext uri="{9D8B030D-6E8A-4147-A177-3AD203B41FA5}">
                      <a16:colId xmlns:a16="http://schemas.microsoft.com/office/drawing/2014/main" val="4000144328"/>
                    </a:ext>
                  </a:extLst>
                </a:gridCol>
                <a:gridCol w="3221800">
                  <a:extLst>
                    <a:ext uri="{9D8B030D-6E8A-4147-A177-3AD203B41FA5}">
                      <a16:colId xmlns:a16="http://schemas.microsoft.com/office/drawing/2014/main" val="477748250"/>
                    </a:ext>
                  </a:extLst>
                </a:gridCol>
                <a:gridCol w="3221800">
                  <a:extLst>
                    <a:ext uri="{9D8B030D-6E8A-4147-A177-3AD203B41FA5}">
                      <a16:colId xmlns:a16="http://schemas.microsoft.com/office/drawing/2014/main" val="3686289789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 dirty="0">
                          <a:effectLst/>
                        </a:rPr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>
                          <a:effectLst/>
                        </a:rPr>
                        <a:t>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>
                          <a:effectLst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38392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>
                          <a:effectLst/>
                        </a:rPr>
                        <a:t>Minimal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>
                          <a:effectLst/>
                        </a:rPr>
                        <a:t>Food needs are met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990"/>
                  </a:ext>
                </a:extLst>
              </a:tr>
              <a:tr h="9245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 dirty="0">
                          <a:effectLst/>
                        </a:rPr>
                        <a:t>Stressed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>
                          <a:effectLst/>
                        </a:rPr>
                        <a:t>Households meet minimum needs but face stress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59797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 dirty="0">
                          <a:effectLst/>
                        </a:rPr>
                        <a:t>Crisis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>
                          <a:effectLst/>
                        </a:rPr>
                        <a:t>Urgent assistance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9602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>
                          <a:effectLst/>
                        </a:rPr>
                        <a:t>Emergency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dirty="0">
                          <a:effectLst/>
                        </a:rPr>
                        <a:t>Severe food consumption gaps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31586"/>
                  </a:ext>
                </a:extLst>
              </a:tr>
              <a:tr h="92456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b="1">
                          <a:effectLst/>
                        </a:rPr>
                        <a:t>Famine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dirty="0">
                          <a:effectLst/>
                        </a:rPr>
                        <a:t>Extreme starvation and mortality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20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416165" y="429700"/>
            <a:ext cx="5246370" cy="524637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391160" y="364490"/>
              <a:ext cx="5619750" cy="5621020"/>
            </a:xfrm>
            <a:custGeom>
              <a:avLst/>
              <a:gdLst/>
              <a:ahLst/>
              <a:cxnLst/>
              <a:rect l="l" t="t" r="r" b="b"/>
              <a:pathLst>
                <a:path w="5619750" h="562102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3"/>
              <a:stretch>
                <a:fillRect t="-1168" b="-1168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3489237" y="3426906"/>
            <a:ext cx="3018207" cy="5264713"/>
          </a:xfrm>
          <a:custGeom>
            <a:avLst/>
            <a:gdLst/>
            <a:ahLst/>
            <a:cxnLst/>
            <a:rect l="l" t="t" r="r" b="b"/>
            <a:pathLst>
              <a:path w="3018207" h="5264713">
                <a:moveTo>
                  <a:pt x="0" y="0"/>
                </a:moveTo>
                <a:lnTo>
                  <a:pt x="3018206" y="0"/>
                </a:lnTo>
                <a:lnTo>
                  <a:pt x="3018206" y="5264713"/>
                </a:lnTo>
                <a:lnTo>
                  <a:pt x="0" y="5264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99046" y="1897027"/>
            <a:ext cx="4967983" cy="91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5"/>
              </a:lnSpc>
            </a:pPr>
            <a:r>
              <a:rPr lang="en-US" sz="527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DATA SOURCES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52129"/>
            <a:ext cx="7065166" cy="534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2"/>
              </a:lnSpc>
            </a:pPr>
            <a:r>
              <a:rPr lang="en-US" sz="276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Variable</a:t>
            </a:r>
          </a:p>
          <a:p>
            <a:pPr marL="597124" lvl="1" indent="-298562" algn="l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Integrated Food Security Phase Classification (IPC Phases)</a:t>
            </a:r>
          </a:p>
          <a:p>
            <a:pPr algn="l">
              <a:lnSpc>
                <a:spcPts val="3872"/>
              </a:lnSpc>
            </a:pPr>
            <a:endParaRPr lang="en-US" sz="276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872"/>
              </a:lnSpc>
            </a:pPr>
            <a:r>
              <a:rPr lang="en-US" sz="276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Predictor Variables</a:t>
            </a:r>
          </a:p>
          <a:p>
            <a:pPr marL="597124" lvl="1" indent="-298562" algn="l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Climate: Rainfall anomalies, NDVI</a:t>
            </a:r>
          </a:p>
          <a:p>
            <a:pPr marL="597124" lvl="1" indent="-298562" algn="l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Market: Monthly maize retail prices</a:t>
            </a:r>
          </a:p>
          <a:p>
            <a:pPr marL="597124" lvl="1" indent="-298562" algn="l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Conflict: Event counts &amp; fatalities</a:t>
            </a:r>
          </a:p>
          <a:p>
            <a:pPr marL="597124" lvl="1" indent="-298562" algn="l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Panel structured as county-month dataset</a:t>
            </a:r>
          </a:p>
          <a:p>
            <a:pPr algn="l">
              <a:lnSpc>
                <a:spcPts val="3872"/>
              </a:lnSpc>
              <a:spcBef>
                <a:spcPct val="0"/>
              </a:spcBef>
            </a:pPr>
            <a:endParaRPr lang="en-US" sz="276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98245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389756" y="895527"/>
            <a:ext cx="6150317" cy="954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72"/>
              </a:lnSpc>
            </a:pPr>
            <a:r>
              <a:rPr lang="en-US" sz="5551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28746" y="2531980"/>
            <a:ext cx="14530554" cy="626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7608" lvl="1" indent="-423804" algn="l">
              <a:lnSpc>
                <a:spcPts val="5496"/>
              </a:lnSpc>
              <a:buFont typeface="Arial"/>
              <a:buChar char="•"/>
            </a:pPr>
            <a:r>
              <a:rPr lang="en-US" sz="3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Cleaning &amp; Harmonization</a:t>
            </a:r>
          </a:p>
          <a:p>
            <a:pPr marL="847608" lvl="1" indent="-423804" algn="l">
              <a:lnSpc>
                <a:spcPts val="5496"/>
              </a:lnSpc>
              <a:buFont typeface="Arial"/>
              <a:buChar char="•"/>
            </a:pPr>
            <a:r>
              <a:rPr lang="en-US" sz="3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 Engineering (lag variables)</a:t>
            </a:r>
          </a:p>
          <a:p>
            <a:pPr marL="847608" lvl="1" indent="-423804" algn="l">
              <a:lnSpc>
                <a:spcPts val="5496"/>
              </a:lnSpc>
              <a:buFont typeface="Arial"/>
              <a:buChar char="•"/>
            </a:pPr>
            <a:r>
              <a:rPr lang="en-US" sz="3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Train/Test Split (time-aware validation)</a:t>
            </a:r>
          </a:p>
          <a:p>
            <a:pPr marL="847608" lvl="1" indent="-423804" algn="l">
              <a:lnSpc>
                <a:spcPts val="5496"/>
              </a:lnSpc>
              <a:buFont typeface="Arial"/>
              <a:buChar char="•"/>
            </a:pPr>
            <a:r>
              <a:rPr lang="en-US" sz="3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Models Compared:</a:t>
            </a:r>
          </a:p>
          <a:p>
            <a:pPr marL="847608" lvl="1" indent="-423804" algn="l">
              <a:lnSpc>
                <a:spcPts val="5496"/>
              </a:lnSpc>
              <a:buFont typeface="Arial"/>
              <a:buChar char="•"/>
            </a:pPr>
            <a:r>
              <a:rPr lang="en-US" sz="3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Logistic Regression</a:t>
            </a:r>
          </a:p>
          <a:p>
            <a:pPr marL="847608" lvl="1" indent="-423804" algn="l">
              <a:lnSpc>
                <a:spcPts val="5496"/>
              </a:lnSpc>
              <a:buFont typeface="Arial"/>
              <a:buChar char="•"/>
            </a:pPr>
            <a:r>
              <a:rPr lang="en-US" sz="3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</a:p>
          <a:p>
            <a:pPr marL="847608" lvl="1" indent="-423804" algn="l">
              <a:lnSpc>
                <a:spcPts val="5496"/>
              </a:lnSpc>
              <a:buFont typeface="Arial"/>
              <a:buChar char="•"/>
            </a:pPr>
            <a:r>
              <a:rPr lang="en-US" sz="3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</a:p>
          <a:p>
            <a:pPr marL="847608" lvl="1" indent="-423804" algn="l">
              <a:lnSpc>
                <a:spcPts val="5496"/>
              </a:lnSpc>
              <a:buFont typeface="Arial"/>
              <a:buChar char="•"/>
            </a:pPr>
            <a:r>
              <a:rPr lang="en-US" sz="39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Evaluation: Accuracy, Precision, Recall, ROC-AUC</a:t>
            </a:r>
          </a:p>
          <a:p>
            <a:pPr algn="l">
              <a:lnSpc>
                <a:spcPts val="5496"/>
              </a:lnSpc>
              <a:spcBef>
                <a:spcPct val="0"/>
              </a:spcBef>
            </a:pPr>
            <a:endParaRPr lang="en-US" sz="39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144000" y="1828763"/>
            <a:ext cx="9221944" cy="6702764"/>
          </a:xfrm>
          <a:custGeom>
            <a:avLst/>
            <a:gdLst/>
            <a:ahLst/>
            <a:cxnLst/>
            <a:rect l="l" t="t" r="r" b="b"/>
            <a:pathLst>
              <a:path w="9221944" h="6702764">
                <a:moveTo>
                  <a:pt x="0" y="0"/>
                </a:moveTo>
                <a:lnTo>
                  <a:pt x="9221944" y="0"/>
                </a:lnTo>
                <a:lnTo>
                  <a:pt x="9221944" y="6702763"/>
                </a:lnTo>
                <a:lnTo>
                  <a:pt x="0" y="67027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39" r="-373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58343" y="890905"/>
            <a:ext cx="5634574" cy="937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2"/>
              </a:lnSpc>
            </a:pPr>
            <a:r>
              <a:rPr lang="en-US" sz="5451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KEY 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530" y="2462662"/>
            <a:ext cx="8858296" cy="526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1605" lvl="1" indent="-360802" algn="l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Machine learning models improved prediction over baseline.</a:t>
            </a:r>
          </a:p>
          <a:p>
            <a:pPr marL="721605" lvl="1" indent="-360802" algn="l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Climate shocks + maize price spikes strongly associated with IPC 3+.</a:t>
            </a:r>
          </a:p>
          <a:p>
            <a:pPr marL="721605" lvl="1" indent="-360802" algn="l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Conflict contributes but less consistently than climate &amp; prices.</a:t>
            </a:r>
          </a:p>
          <a:p>
            <a:pPr marL="721605" lvl="1" indent="-360802" algn="l">
              <a:lnSpc>
                <a:spcPts val="4679"/>
              </a:lnSpc>
              <a:buFont typeface="Arial"/>
              <a:buChar char="•"/>
            </a:pPr>
            <a:r>
              <a:rPr lang="en-US" sz="3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can flag high-risk counties one month in advance.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endParaRPr lang="en-US" sz="33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79939" y="1311765"/>
            <a:ext cx="10328122" cy="115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19"/>
              </a:lnSpc>
            </a:pPr>
            <a:r>
              <a:rPr lang="en-US" sz="6656" b="1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CONCLUSION &amp; IMPACT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25332" y="3237083"/>
            <a:ext cx="15333968" cy="548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9506" lvl="1" indent="-479753" algn="l">
              <a:lnSpc>
                <a:spcPts val="6221"/>
              </a:lnSpc>
              <a:buFont typeface="Arial"/>
              <a:buChar char="•"/>
            </a:pPr>
            <a:r>
              <a:rPr lang="en-US" sz="4444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Predictive analytics improves preparedness.</a:t>
            </a:r>
          </a:p>
          <a:p>
            <a:pPr marL="959506" lvl="1" indent="-479753" algn="l">
              <a:lnSpc>
                <a:spcPts val="6221"/>
              </a:lnSpc>
              <a:buFont typeface="Arial"/>
              <a:buChar char="•"/>
            </a:pPr>
            <a:r>
              <a:rPr lang="en-US" sz="4444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Supports humanitarian agencies &amp; county governments.</a:t>
            </a:r>
          </a:p>
          <a:p>
            <a:pPr marL="959506" lvl="1" indent="-479753" algn="l">
              <a:lnSpc>
                <a:spcPts val="6221"/>
              </a:lnSpc>
              <a:buFont typeface="Arial"/>
              <a:buChar char="•"/>
            </a:pPr>
            <a:r>
              <a:rPr lang="en-US" sz="4444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Enables proactive food assistance allocation.</a:t>
            </a:r>
          </a:p>
          <a:p>
            <a:pPr marL="959506" lvl="1" indent="-479753" algn="l">
              <a:lnSpc>
                <a:spcPts val="6221"/>
              </a:lnSpc>
              <a:buFont typeface="Arial"/>
              <a:buChar char="•"/>
            </a:pPr>
            <a:r>
              <a:rPr lang="en-US" sz="4444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Scalable to other drought-prone regions in East Africa.</a:t>
            </a:r>
          </a:p>
          <a:p>
            <a:pPr algn="l">
              <a:lnSpc>
                <a:spcPts val="6221"/>
              </a:lnSpc>
              <a:spcBef>
                <a:spcPct val="0"/>
              </a:spcBef>
            </a:pPr>
            <a:endParaRPr lang="en-US" sz="4444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702328" y="4246706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45228" y="4246706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33297" y="4314103"/>
            <a:ext cx="8421405" cy="129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14"/>
              </a:lnSpc>
            </a:pPr>
            <a:r>
              <a:rPr lang="en-US" sz="758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0" name="Freeform 10"/>
          <p:cNvSpPr/>
          <p:nvPr/>
        </p:nvSpPr>
        <p:spPr>
          <a:xfrm>
            <a:off x="3784276" y="8083696"/>
            <a:ext cx="762324" cy="762324"/>
          </a:xfrm>
          <a:custGeom>
            <a:avLst/>
            <a:gdLst/>
            <a:ahLst/>
            <a:cxnLst/>
            <a:rect l="l" t="t" r="r" b="b"/>
            <a:pathLst>
              <a:path w="762324" h="762324">
                <a:moveTo>
                  <a:pt x="0" y="0"/>
                </a:moveTo>
                <a:lnTo>
                  <a:pt x="762324" y="0"/>
                </a:lnTo>
                <a:lnTo>
                  <a:pt x="762324" y="762324"/>
                </a:lnTo>
                <a:lnTo>
                  <a:pt x="0" y="762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349748" y="7916250"/>
            <a:ext cx="9209297" cy="92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19"/>
              </a:lnSpc>
              <a:spcBef>
                <a:spcPct val="0"/>
              </a:spcBef>
            </a:pPr>
            <a:r>
              <a:rPr lang="en-US" sz="5442" u="sng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5" tooltip="https://huggingface.co/spaces/mcshoja/FoodInsecurityDashboard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324</Words>
  <Application>Microsoft Office PowerPoint</Application>
  <PresentationFormat>Custom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Roboto Bold</vt:lpstr>
      <vt:lpstr>Roboto</vt:lpstr>
      <vt:lpstr>Poppins</vt:lpstr>
      <vt:lpstr>Calibri</vt:lpstr>
      <vt:lpstr>Arial</vt:lpstr>
      <vt:lpstr>League Spartan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cp:lastModifiedBy>dennis mugambi</cp:lastModifiedBy>
  <cp:revision>2</cp:revision>
  <dcterms:created xsi:type="dcterms:W3CDTF">2006-08-16T00:00:00Z</dcterms:created>
  <dcterms:modified xsi:type="dcterms:W3CDTF">2026-03-02T06:15:32Z</dcterms:modified>
  <dc:identifier>DAHCtKq4lPk</dc:identifier>
</cp:coreProperties>
</file>